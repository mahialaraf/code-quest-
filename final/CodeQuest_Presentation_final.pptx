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2536"/>
    <a:srgbClr val="85C8D6"/>
    <a:srgbClr val="C9AA58"/>
    <a:srgbClr val="80DA89"/>
    <a:srgbClr val="26005E"/>
    <a:srgbClr val="220054"/>
    <a:srgbClr val="360087"/>
    <a:srgbClr val="C5C5C5"/>
    <a:srgbClr val="24203B"/>
    <a:srgbClr val="006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161" y="7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B4BF6-6EA9-4E09-BB4A-295330D145F9}" type="datetimeFigureOut"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EAB99-750D-4340-B7E2-01445911B4E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46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iAlAraf/CODE-QUEST-.gi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6400800" cy="6400800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6858000" cy="6858000"/>
          </a:xfrm>
          <a:prstGeom prst="ellipse">
            <a:avLst/>
          </a:prstGeom>
          <a:solidFill>
            <a:srgbClr val="3FE07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814316" y="502920"/>
            <a:ext cx="2560320" cy="347472"/>
          </a:xfrm>
          <a:prstGeom prst="roundRect">
            <a:avLst>
              <a:gd name="adj" fmla="val 50000"/>
            </a:avLst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14316" y="502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PRESENTATION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0" y="960120"/>
            <a:ext cx="12188952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4600" b="1" kern="0" spc="200">
                <a:solidFill>
                  <a:srgbClr val="F3F1F8"/>
                </a:solidFill>
                <a:latin typeface="Cambria"/>
                <a:ea typeface="Cambria"/>
              </a:rPr>
              <a:t>A group Project </a:t>
            </a: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691640"/>
            <a:ext cx="12188952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400" kern="0" spc="300">
                <a:solidFill>
                  <a:srgbClr val="3FE07F"/>
                </a:solidFill>
                <a:latin typeface="Courier New"/>
                <a:cs typeface="Courier New"/>
              </a:rPr>
              <a:t>Of CSE 103</a:t>
            </a: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0" y="23317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38556" y="3203077"/>
            <a:ext cx="2341316" cy="2541694"/>
          </a:xfrm>
          <a:prstGeom prst="roundRect">
            <a:avLst>
              <a:gd name="adj" fmla="val 4138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75887" y="3365529"/>
            <a:ext cx="1466653" cy="1466653"/>
          </a:xfrm>
          <a:prstGeom prst="ellipse">
            <a:avLst/>
          </a:prstGeom>
          <a:ln w="28575">
            <a:solidFill>
              <a:srgbClr val="E8B84B"/>
            </a:solidFill>
            <a:prstDash val="solid"/>
          </a:ln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CA77051-581F-2DF5-940F-DD010BD90B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23" t="16118" r="-107" b="7680"/>
          <a:stretch>
            <a:fillRect/>
          </a:stretch>
        </p:blipFill>
        <p:spPr>
          <a:xfrm>
            <a:off x="3607082" y="3398931"/>
            <a:ext cx="1403936" cy="1395421"/>
          </a:xfrm>
          <a:prstGeom prst="ellipse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8829" y="4945856"/>
            <a:ext cx="2179603" cy="323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 Al Araf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028579" y="5269283"/>
            <a:ext cx="24688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kern="0" spc="150">
                <a:solidFill>
                  <a:srgbClr val="3FE07F"/>
                </a:solidFill>
                <a:latin typeface="Courier New"/>
                <a:cs typeface="Courier New"/>
              </a:rPr>
              <a:t>    GAME DEVELOPER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94543" y="3203077"/>
            <a:ext cx="2341316" cy="2541694"/>
          </a:xfrm>
          <a:prstGeom prst="roundRect">
            <a:avLst>
              <a:gd name="adj" fmla="val 4138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75430" y="3327142"/>
            <a:ext cx="1466653" cy="1466653"/>
          </a:xfrm>
          <a:prstGeom prst="ellipse">
            <a:avLst/>
          </a:prstGeom>
          <a:ln w="28575">
            <a:solidFill>
              <a:srgbClr val="E8B84B"/>
            </a:solidFill>
            <a:prstDash val="solid"/>
          </a:ln>
        </p:spPr>
      </p:sp>
      <p:pic>
        <p:nvPicPr>
          <p:cNvPr id="16" name="Image 1" descr="sakib_sq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9209" y="3380921"/>
            <a:ext cx="1371036" cy="1371036"/>
          </a:xfrm>
          <a:prstGeom prst="ellipse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64816" y="4945856"/>
            <a:ext cx="2179603" cy="323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Masrafi Sakib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574316" y="5284184"/>
            <a:ext cx="24688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000" kern="0" spc="150" dirty="0">
                <a:solidFill>
                  <a:srgbClr val="3FE07F"/>
                </a:solidFill>
                <a:latin typeface="Courier New"/>
                <a:cs typeface="Courier New"/>
              </a:rPr>
              <a:t> TRAINING DEVELOPER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894772" y="48489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894772" y="5214676"/>
            <a:ext cx="24688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1000" dirty="0">
              <a:ea typeface="Calibri"/>
              <a:cs typeface="Calibri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0" y="6400800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5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West University  •  CSE  •  Structured Programming Project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7315200" cy="7315200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4389120"/>
            <a:ext cx="6400800" cy="6400800"/>
          </a:xfrm>
          <a:prstGeom prst="ellipse">
            <a:avLst/>
          </a:prstGeom>
          <a:solidFill>
            <a:srgbClr val="3FE07F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822960"/>
            <a:ext cx="3749040" cy="5212080"/>
          </a:xfrm>
          <a:prstGeom prst="roundRect">
            <a:avLst>
              <a:gd name="adj" fmla="val 2927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1920240"/>
            <a:ext cx="2286000" cy="2286000"/>
          </a:xfrm>
          <a:prstGeom prst="ellipse">
            <a:avLst/>
          </a:prstGeom>
          <a:ln w="254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1920240"/>
            <a:ext cx="2286000" cy="228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0" dirty="0">
              <a:solidFill>
                <a:srgbClr val="E8B84B"/>
              </a:solidFill>
              <a:latin typeface="Arial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01000" y="4434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5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CODE APPRENTICE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01000" y="47548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hope of the Compiler Kingdom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914400"/>
            <a:ext cx="3657600" cy="365760"/>
          </a:xfrm>
          <a:prstGeom prst="roundRect">
            <a:avLst>
              <a:gd name="adj" fmla="val 50000"/>
            </a:avLst>
          </a:prstGeom>
          <a:solidFill>
            <a:srgbClr val="3FE07F">
              <a:alpha val="18000"/>
            </a:srgbClr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PROGRAMMING  ·  CONSOLE RPG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5755" y="1421950"/>
            <a:ext cx="6949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6200"/>
              </a:lnSpc>
              <a:buNone/>
            </a:pPr>
            <a:r>
              <a:rPr lang="en-US" sz="66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</a:t>
            </a:r>
            <a:endParaRPr lang="en-US" sz="6600" dirty="0"/>
          </a:p>
          <a:p>
            <a:pPr marL="0" indent="0">
              <a:lnSpc>
                <a:spcPts val="6200"/>
              </a:lnSpc>
              <a:buNone/>
            </a:pPr>
            <a:r>
              <a:rPr lang="en-US" sz="66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566928" y="37033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 FROM THE COMPILER KINGDOM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" y="4434840"/>
            <a:ext cx="6675120" cy="1463040"/>
          </a:xfrm>
          <a:prstGeom prst="roundRect">
            <a:avLst>
              <a:gd name="adj" fmla="val 7500"/>
            </a:avLst>
          </a:prstGeom>
          <a:solidFill>
            <a:srgbClr val="1F1B33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17720"/>
            <a:ext cx="6172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300" dirty="0">
                <a:solidFill>
                  <a:srgbClr val="F3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quiz-based RPG where every battle is a C programming question.
</a:t>
            </a:r>
            <a:r>
              <a:rPr lang="en-US" sz="13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300" dirty="0">
                <a:solidFill>
                  <a:srgbClr val="F3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right, the kingdom heals. Answer wrong, you don't.</a:t>
            </a:r>
            <a:endParaRPr lang="en-US" sz="1300" dirty="0"/>
          </a:p>
        </p:txBody>
      </p:sp>
      <p:pic>
        <p:nvPicPr>
          <p:cNvPr id="20" name="Hero">
            <a:extLst>
              <a:ext uri="{FF2B5EF4-FFF2-40B4-BE49-F238E27FC236}">
                <a16:creationId xmlns:a16="http://schemas.microsoft.com/office/drawing/2014/main" id="{BD1C5FDF-9912-A4E7-DB27-DA17C5D68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6391" y="2144232"/>
            <a:ext cx="1333916" cy="18429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828800"/>
            <a:ext cx="5486400" cy="5486400"/>
          </a:xfrm>
          <a:prstGeom prst="ellipse">
            <a:avLst/>
          </a:prstGeom>
          <a:solidFill>
            <a:srgbClr val="E8B84B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PREMISE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Storyline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8960" y="1600200"/>
            <a:ext cx="5349240" cy="3246120"/>
          </a:xfrm>
          <a:prstGeom prst="roundRect">
            <a:avLst>
              <a:gd name="adj" fmla="val 3380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OBJECTIVE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4754880" cy="2514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3F1F8"/>
                </a:solidFill>
                <a:ea typeface="+mn-lt"/>
                <a:cs typeface="+mn-lt"/>
              </a:rPr>
              <a:t>Guide the last Code Apprentice through six broken lands of the Compiler Kingdom. Answer C programming questions correctly to restore each region, survive on HP, and defeat the NULL POINTER before the kingdom is erased forever.</a:t>
            </a:r>
          </a:p>
          <a:p>
            <a:pPr>
              <a:lnSpc>
                <a:spcPct val="130000"/>
              </a:lnSpc>
            </a:pPr>
            <a:endParaRPr lang="en-US" sz="1400" dirty="0">
              <a:solidFill>
                <a:srgbClr val="F3F1F8"/>
              </a:solidFill>
              <a:ea typeface="Calibri"/>
              <a:cs typeface="Calibri"/>
            </a:endParaRPr>
          </a:p>
          <a:p>
            <a:pPr>
              <a:lnSpc>
                <a:spcPct val="130000"/>
              </a:lnSpc>
            </a:pPr>
            <a:r>
              <a:rPr lang="en-US" sz="1400">
                <a:solidFill>
                  <a:srgbClr val="F3F1F8"/>
                </a:solidFill>
                <a:ea typeface="Calibri"/>
                <a:cs typeface="Calibri"/>
              </a:rPr>
              <a:t>-&gt;Here our main objective is to make a Newbie programmer into an intermediate coder in C language.</a:t>
            </a:r>
            <a:endParaRPr lang="en-US" sz="1400" dirty="0">
              <a:solidFill>
                <a:srgbClr val="F3F1F8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80760" y="1600200"/>
            <a:ext cx="5577840" cy="3246120"/>
          </a:xfrm>
          <a:prstGeom prst="roundRect">
            <a:avLst>
              <a:gd name="adj" fmla="val 3380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STORYLINE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2212848"/>
            <a:ext cx="4892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Kingdom's code has shattered.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virus, the NULL POINTER, erases rooms, names, whole lands.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last Code Apprentice, guided by the Wizard of Iteration.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six lands, face the Null Pointer, save the kingdom.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1109960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5532120"/>
            <a:ext cx="10469880" cy="0"/>
          </a:xfrm>
          <a:prstGeom prst="line">
            <a:avLst/>
          </a:prstGeom>
          <a:noFill/>
          <a:ln w="19050">
            <a:solidFill>
              <a:srgbClr val="38315A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76809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Village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1307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930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Forest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5805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428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0303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926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4801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5424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492996" y="5431536"/>
            <a:ext cx="201168" cy="201168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9922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Silent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Corridor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1237976" y="5431536"/>
            <a:ext cx="201168" cy="201168"/>
          </a:xfrm>
          <a:prstGeom prst="ellipse">
            <a:avLst/>
          </a:prstGeom>
          <a:solidFill>
            <a:srgbClr val="FF5468"/>
          </a:solidFill>
          <a:ln w="12700">
            <a:solidFill>
              <a:srgbClr val="FF54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44200" y="569671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FF5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8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50" dirty="0">
                <a:solidFill>
                  <a:srgbClr val="FF5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Hero, Guide &amp; Villain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F1B33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011680"/>
            <a:ext cx="1554480" cy="1554480"/>
          </a:xfrm>
          <a:prstGeom prst="ellipse">
            <a:avLst/>
          </a:prstGeom>
          <a:solidFill>
            <a:srgbClr val="241F3D"/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7340" y="2011680"/>
            <a:ext cx="155448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5400" dirty="0">
              <a:solidFill>
                <a:srgbClr val="E8B84B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94460" y="37033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4460" y="37033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CHARACTER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Apprentice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Code Apprentice — a dashing warrior-coder who journeys through six broken lands, fixing corrupted logic one region at a time.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F1B33"/>
          </a:solidFill>
          <a:ln w="15875">
            <a:solidFill>
              <a:srgbClr val="5FD9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17820" y="2011680"/>
            <a:ext cx="1554480" cy="1554480"/>
          </a:xfrm>
          <a:prstGeom prst="ellipse">
            <a:avLst/>
          </a:prstGeom>
          <a:solidFill>
            <a:srgbClr val="241F3D"/>
          </a:solidFill>
          <a:ln w="25400">
            <a:solidFill>
              <a:srgbClr val="5FD9E8"/>
            </a:solidFill>
            <a:prstDash val="solid"/>
          </a:ln>
        </p:spPr>
      </p:sp>
      <p:pic>
        <p:nvPicPr>
          <p:cNvPr id="13" name="Image 0" descr="wizard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268" y="2167128"/>
            <a:ext cx="1243584" cy="124358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234940" y="37033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5FD9E8">
              <a:alpha val="18000"/>
            </a:srgbClr>
          </a:solidFill>
          <a:ln w="12700">
            <a:solidFill>
              <a:srgbClr val="5FD9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34940" y="37033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5FD9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GUIDING NPC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0" y="4114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Wizard of Iteration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663440" y="46177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wise mentor who appears between regions, steering the Apprentice toward the next broken land and explaining what's at stake.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29600" y="169164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F1B33"/>
          </a:solidFill>
          <a:ln w="15875">
            <a:solidFill>
              <a:srgbClr val="FF546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58300" y="2011680"/>
            <a:ext cx="1554480" cy="1554480"/>
          </a:xfrm>
          <a:prstGeom prst="ellipse">
            <a:avLst/>
          </a:prstGeom>
          <a:solidFill>
            <a:srgbClr val="241F3D"/>
          </a:solidFill>
          <a:ln w="25400">
            <a:solidFill>
              <a:srgbClr val="FF546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58300" y="2011680"/>
            <a:ext cx="1554480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5400" dirty="0">
              <a:solidFill>
                <a:srgbClr val="FF5468"/>
              </a:solidFill>
              <a:latin typeface="Arial"/>
              <a:cs typeface="Arial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075420" y="37033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F5468">
              <a:alpha val="18000"/>
            </a:srgbClr>
          </a:solidFill>
          <a:ln w="12700">
            <a:solidFill>
              <a:srgbClr val="FF546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75420" y="37033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5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VILLAIN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412480" y="4114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POINTER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503920" y="46177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the absence. I am what you forgot to check.” A corrupted virus that doesn't break things — it erases them completely.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pic>
        <p:nvPicPr>
          <p:cNvPr id="29" name="Hero" descr="A silhouette of a person holding a sword&#10;&#10;AI-generated content may be incorrect.">
            <a:extLst>
              <a:ext uri="{FF2B5EF4-FFF2-40B4-BE49-F238E27FC236}">
                <a16:creationId xmlns:a16="http://schemas.microsoft.com/office/drawing/2014/main" id="{34430971-7015-2A46-475F-C3C6F4249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012" y="2165697"/>
            <a:ext cx="829495" cy="118830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1264282-C74D-A2FC-4CB4-5AB4717FBC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282" y="2071352"/>
            <a:ext cx="1373747" cy="1491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main() → show_menu()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 </a:t>
            </a:r>
            <a:r>
              <a:rPr lang="en-US" sz="13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show_menu()</a:t>
            </a:r>
            <a:r>
              <a:rPr lang="en-US" sz="130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return 0; 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41D0B190-4F9D-50EA-3AF6-B154C2741F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37924" y="2396958"/>
            <a:ext cx="1479550" cy="1485900"/>
          </a:xfrm>
          <a:prstGeom prst="rect">
            <a:avLst/>
          </a:prstGeom>
        </p:spPr>
      </p:pic>
      <p:sp>
        <p:nvSpPr>
          <p:cNvPr id="6" name="Shape 4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2167128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Game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2715768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Wipes save/profile/market files, plays the intro, then launches new_game().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12920" y="1965960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A8BD5A5F-C6F9-2593-9A92-632C4840AC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1900" y="2393950"/>
            <a:ext cx="1549400" cy="1511300"/>
          </a:xfrm>
          <a:prstGeom prst="rect">
            <a:avLst/>
          </a:prstGeom>
        </p:spPr>
      </p:pic>
      <p:sp>
        <p:nvSpPr>
          <p:cNvPr id="11" name="Shape 9"/>
          <p:cNvSpPr/>
          <p:nvPr/>
        </p:nvSpPr>
        <p:spPr>
          <a:xfrm>
            <a:off x="4514088" y="2167128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408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90160" y="2167128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14088" y="2715768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file_open() loads save.txt and resumes at the last saved checkpoint.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077200" y="1965960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39ADEC8D-8E5F-7B3A-5462-B8EA365E27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5600" y="2520950"/>
            <a:ext cx="1225550" cy="1212850"/>
          </a:xfrm>
          <a:prstGeom prst="rect">
            <a:avLst/>
          </a:prstGeom>
        </p:spPr>
      </p:pic>
      <p:sp>
        <p:nvSpPr>
          <p:cNvPr id="16" name="Shape 14"/>
          <p:cNvSpPr/>
          <p:nvPr/>
        </p:nvSpPr>
        <p:spPr>
          <a:xfrm>
            <a:off x="8278368" y="2167128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8368" y="2167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54440" y="2167128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78368" y="2715768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until XP &gt; 25 (“Noob”). Spend coins on shields, potions &amp; HP.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059936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9CAB6FE9-43C1-3C3D-003C-473411A3D7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03500" y="4038600"/>
            <a:ext cx="1708150" cy="1695450"/>
          </a:xfrm>
          <a:prstGeom prst="rect">
            <a:avLst/>
          </a:prstGeom>
        </p:spPr>
      </p:pic>
      <p:sp>
        <p:nvSpPr>
          <p:cNvPr id="22" name="Text 20"/>
          <p:cNvSpPr/>
          <p:nvPr/>
        </p:nvSpPr>
        <p:spPr>
          <a:xfrm>
            <a:off x="749808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25880" y="4059936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9808" y="4608576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profile_open() + file_open() display Name, HP, XP, Level and Coins.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312920" y="3858768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97669AF-29FC-9712-8D18-67A44DB4A0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35750" y="4241800"/>
            <a:ext cx="1441450" cy="1466850"/>
          </a:xfrm>
          <a:prstGeom prst="rect">
            <a:avLst/>
          </a:prstGeom>
        </p:spPr>
      </p:pic>
      <p:sp>
        <p:nvSpPr>
          <p:cNvPr id="26" name="Shape 24"/>
          <p:cNvSpPr/>
          <p:nvPr/>
        </p:nvSpPr>
        <p:spPr>
          <a:xfrm>
            <a:off x="4514088" y="4059936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14088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90160" y="4059936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514088" y="4608576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practice academy — no HP risk, pure learning.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077200" y="3858768"/>
            <a:ext cx="3563112" cy="1691640"/>
          </a:xfrm>
          <a:prstGeom prst="roundRect">
            <a:avLst>
              <a:gd name="adj" fmla="val 6486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1D08C74C-AF7F-E59D-B44C-7608B20ABCD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6550" y="4343400"/>
            <a:ext cx="1257300" cy="1263650"/>
          </a:xfrm>
          <a:prstGeom prst="rect">
            <a:avLst/>
          </a:prstGeom>
        </p:spPr>
      </p:pic>
      <p:sp>
        <p:nvSpPr>
          <p:cNvPr id="31" name="Shape 29"/>
          <p:cNvSpPr/>
          <p:nvPr/>
        </p:nvSpPr>
        <p:spPr>
          <a:xfrm>
            <a:off x="8278368" y="4059936"/>
            <a:ext cx="457200" cy="457200"/>
          </a:xfrm>
          <a:prstGeom prst="ellipse">
            <a:avLst/>
          </a:prstGeom>
          <a:solidFill>
            <a:srgbClr val="E8B84B">
              <a:alpha val="18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8368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54440" y="4059936"/>
            <a:ext cx="2602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278368" y="4608576"/>
            <a:ext cx="31607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 farewell message and ends the program.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val 39">
            <a:extLst>
              <a:ext uri="{FF2B5EF4-FFF2-40B4-BE49-F238E27FC236}">
                <a16:creationId xmlns:a16="http://schemas.microsoft.com/office/drawing/2014/main" id="{E020D488-2427-78FB-8E6C-F736832BE676}"/>
              </a:ext>
            </a:extLst>
          </p:cNvPr>
          <p:cNvSpPr/>
          <p:nvPr/>
        </p:nvSpPr>
        <p:spPr>
          <a:xfrm>
            <a:off x="8307137" y="2105528"/>
            <a:ext cx="9464843" cy="8451515"/>
          </a:xfrm>
          <a:prstGeom prst="ellipse">
            <a:avLst/>
          </a:prstGeom>
          <a:solidFill>
            <a:srgbClr val="220054">
              <a:alpha val="7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B53AB5C-EE58-8840-FF3D-1CB3F5CB003F}"/>
              </a:ext>
            </a:extLst>
          </p:cNvPr>
          <p:cNvSpPr/>
          <p:nvPr/>
        </p:nvSpPr>
        <p:spPr>
          <a:xfrm>
            <a:off x="-5348706" y="-4739104"/>
            <a:ext cx="9464843" cy="8451515"/>
          </a:xfrm>
          <a:prstGeom prst="ellipse">
            <a:avLst/>
          </a:prstGeom>
          <a:solidFill>
            <a:srgbClr val="26005E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— new_game()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</a:t>
            </a:r>
            <a:r>
              <a:rPr lang="en-US" sz="1200" dirty="0">
                <a:solidFill>
                  <a:srgbClr val="3FE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r>
              <a:rPr lang="en-US" sz="12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checkpoint variable (1–10) drives the whole story — saved after every region so Continue always resumes exactly here.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51560" y="2313432"/>
            <a:ext cx="10085832" cy="0"/>
          </a:xfrm>
          <a:prstGeom prst="line">
            <a:avLst/>
          </a:prstGeom>
          <a:noFill/>
          <a:ln w="19050">
            <a:solidFill>
              <a:srgbClr val="3831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19456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361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variable_village()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54146" y="219456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95778" y="15361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Forest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side quest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50058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loop_forest()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75604" y="219456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17236" y="15361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71516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array_cave()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497062" y="219456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8694" y="15361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92974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After_cave_shop()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018520" y="219456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60152" y="15361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14432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Function_falls()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51560" y="3593592"/>
            <a:ext cx="10085832" cy="0"/>
          </a:xfrm>
          <a:prstGeom prst="line">
            <a:avLst/>
          </a:prstGeom>
          <a:noFill/>
          <a:ln w="19050">
            <a:solidFill>
              <a:srgbClr val="3831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" y="347472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81635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Pointer_peak()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94632" y="347472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6264" y="281635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Precaution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+ shop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90544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Precaution_EQuest()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656576" y="3474720"/>
            <a:ext cx="237744" cy="23774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B891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8208" y="281635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52488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final_stage()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018520" y="3474720"/>
            <a:ext cx="237744" cy="237744"/>
          </a:xfrm>
          <a:prstGeom prst="ellipse">
            <a:avLst/>
          </a:prstGeom>
          <a:solidFill>
            <a:srgbClr val="FF5468"/>
          </a:solidFill>
          <a:ln w="12700">
            <a:solidFill>
              <a:srgbClr val="FF54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60152" y="281635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314432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5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NUL_POINTER()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8640" y="4343400"/>
            <a:ext cx="11109960" cy="1783080"/>
          </a:xfrm>
          <a:prstGeom prst="roundRect">
            <a:avLst>
              <a:gd name="adj" fmla="val 6154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5537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5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 WRONG TURN IS HANDLED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" y="489204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HP drops to 0 in any region → </a:t>
            </a:r>
            <a:r>
              <a:rPr lang="en-US" sz="1250" dirty="0">
                <a:solidFill>
                  <a:srgbClr val="3FE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fallen_statement()</a:t>
            </a:r>
            <a:r>
              <a:rPr lang="en-US" sz="12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prints defeat → </a:t>
            </a:r>
            <a:r>
              <a:rPr lang="en-US" sz="1250" dirty="0">
                <a:solidFill>
                  <a:srgbClr val="3FE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file_reset()</a:t>
            </a:r>
            <a:r>
              <a:rPr lang="en-US" sz="12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wipes the save → the journey restarts from Variables Village.
Defeating the Null Pointer → </a:t>
            </a:r>
            <a:r>
              <a:rPr lang="en-US" sz="125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Congratulations()</a:t>
            </a:r>
            <a:r>
              <a:rPr lang="en-US" sz="12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plays the ending → save.txt is deleted and the profile/market reset for a fresh run.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E232CDAF-AC19-9B21-51DC-A4B38DB31897}"/>
              </a:ext>
            </a:extLst>
          </p:cNvPr>
          <p:cNvSpPr/>
          <p:nvPr/>
        </p:nvSpPr>
        <p:spPr>
          <a:xfrm>
            <a:off x="9710820" y="-7058525"/>
            <a:ext cx="9464843" cy="8451515"/>
          </a:xfrm>
          <a:prstGeom prst="ellipse">
            <a:avLst/>
          </a:prstGeom>
          <a:solidFill>
            <a:srgbClr val="26005E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1C74D93-B705-68C3-98BF-9A980C0E75F3}"/>
              </a:ext>
            </a:extLst>
          </p:cNvPr>
          <p:cNvSpPr/>
          <p:nvPr/>
        </p:nvSpPr>
        <p:spPr>
          <a:xfrm>
            <a:off x="-7547811" y="5026528"/>
            <a:ext cx="9464843" cy="8451515"/>
          </a:xfrm>
          <a:prstGeom prst="ellipse">
            <a:avLst/>
          </a:prstGeom>
          <a:solidFill>
            <a:srgbClr val="26005E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MODE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— Risk-Free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Datatypes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59290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32442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69941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3093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80591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53743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91241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64393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01891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75043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212542" y="1691640"/>
            <a:ext cx="1446058" cy="1234440"/>
          </a:xfrm>
          <a:prstGeom prst="roundRect">
            <a:avLst>
              <a:gd name="adj" fmla="val 8889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5694" y="1691640"/>
            <a:ext cx="129975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0358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training()  →  7 topic chambers, chosen with menu_input(0, 7)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F1B33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130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Knowledge Quest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178808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multi-section lesson. lesson_navigation() lets you press Enter to advance or 1 to go back a section.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4572000"/>
            <a:ext cx="822960" cy="0"/>
          </a:xfrm>
          <a:prstGeom prst="line">
            <a:avLst/>
          </a:prstGeom>
          <a:noFill/>
          <a:ln w="25400">
            <a:solidFill>
              <a:srgbClr val="3FE07F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160520" y="41788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3611880"/>
            <a:ext cx="3429000" cy="1920240"/>
          </a:xfrm>
          <a:prstGeom prst="roundRect">
            <a:avLst>
              <a:gd name="adj" fmla="val 5714"/>
            </a:avLst>
          </a:prstGeom>
          <a:solidFill>
            <a:srgbClr val="1F1B33"/>
          </a:solidFill>
          <a:ln w="15875">
            <a:solidFill>
              <a:srgbClr val="FF54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8130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Knowledge Battle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4178808"/>
            <a:ext cx="2971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quiz via traning_answer() — instant right/wrong feedback with an explanation. No HP cost either way.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15400" y="3611880"/>
            <a:ext cx="2724912" cy="1920240"/>
          </a:xfrm>
          <a:prstGeom prst="roundRect">
            <a:avLst>
              <a:gd name="adj" fmla="val 5714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IT'S DIFFERENT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0" y="411480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main quest, Training never touches HP. It's a sandbox to rehearse each topic before facing it for real.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5BDC2ECC-2492-8AAB-BA8D-3608C45AD32C}"/>
              </a:ext>
            </a:extLst>
          </p:cNvPr>
          <p:cNvSpPr/>
          <p:nvPr/>
        </p:nvSpPr>
        <p:spPr>
          <a:xfrm>
            <a:off x="-4117474" y="-4699000"/>
            <a:ext cx="8972884" cy="8819147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D24909AB-A940-67EF-96CC-8AD135095E78}"/>
              </a:ext>
            </a:extLst>
          </p:cNvPr>
          <p:cNvSpPr/>
          <p:nvPr/>
        </p:nvSpPr>
        <p:spPr>
          <a:xfrm>
            <a:off x="7077242" y="2121408"/>
            <a:ext cx="10229515" cy="9520989"/>
          </a:xfrm>
          <a:prstGeom prst="ellipse">
            <a:avLst/>
          </a:prstGeom>
          <a:solidFill>
            <a:srgbClr val="3FE07F">
              <a:alpha val="8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Game Mechanics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1F1B33"/>
          </a:solidFill>
          <a:ln w="15875">
            <a:solidFill>
              <a:srgbClr val="FF54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09928"/>
            <a:ext cx="2011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kern="0" spc="100">
                <a:solidFill>
                  <a:srgbClr val="FF5468"/>
                </a:solidFill>
                <a:latin typeface="Courier New"/>
                <a:cs typeface="Courier New"/>
              </a:rPr>
              <a:t> HP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7099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2140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bar drawn by HP_Bar() as [####......]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61688" y="160020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1F1B33"/>
          </a:solidFill>
          <a:ln w="15875">
            <a:solidFill>
              <a:srgbClr val="3FE0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709928"/>
            <a:ext cx="2011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kern="0" spc="100">
                <a:solidFill>
                  <a:srgbClr val="3FE07F"/>
                </a:solidFill>
                <a:latin typeface="Courier New"/>
                <a:ea typeface="Courier New" pitchFamily="34" charset="-122"/>
                <a:cs typeface="Courier New"/>
              </a:rPr>
              <a:t> XP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90288" y="17099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→ Expert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0288" y="212140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level_status() ranks you at 25 / 50 / 75 / 85 XP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174736" y="160020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1F1B33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1709928"/>
            <a:ext cx="2011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 kern="0" spc="100">
                <a:solidFill>
                  <a:srgbClr val="E8B84B"/>
                </a:solidFill>
                <a:latin typeface="Courier New"/>
                <a:ea typeface="Courier New" pitchFamily="34" charset="-122"/>
                <a:cs typeface="Courier New"/>
              </a:rPr>
              <a:t>  COINS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03336" y="170992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03336" y="212140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from correct answers, spent in shops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1109960" cy="1417320"/>
          </a:xfrm>
          <a:prstGeom prst="roundRect">
            <a:avLst>
              <a:gd name="adj" fmla="val 7742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1821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BATTLE ENGINE  —  correct_answer()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in the game funnels through one function: ask → check the answer → </a:t>
            </a:r>
            <a:r>
              <a:rPr lang="en-US" sz="1200" dirty="0">
                <a:solidFill>
                  <a:srgbClr val="3FE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XP + Coins</a:t>
            </a:r>
            <a:r>
              <a:rPr lang="en-US" sz="120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success or </a:t>
            </a:r>
            <a:r>
              <a:rPr lang="en-US" sz="1200" dirty="0">
                <a:solidFill>
                  <a:srgbClr val="FF5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HP</a:t>
            </a:r>
            <a:r>
              <a:rPr lang="en-US" sz="120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failure → optionally show why the answer was right.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2626614" cy="1508760"/>
          </a:xfrm>
          <a:prstGeom prst="roundRect">
            <a:avLst>
              <a:gd name="adj" fmla="val 7273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754880"/>
            <a:ext cx="22974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Vibranium Shield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3232" y="5166360"/>
            <a:ext cx="2297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coins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5468112"/>
            <a:ext cx="22974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all HP loss on the next wrong answer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3376422" y="4617720"/>
            <a:ext cx="2626614" cy="1508760"/>
          </a:xfrm>
          <a:prstGeom prst="roundRect">
            <a:avLst>
              <a:gd name="adj" fmla="val 7273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1014" y="4754880"/>
            <a:ext cx="22974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Shield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541014" y="5166360"/>
            <a:ext cx="2297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80–175 coins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41014" y="5468112"/>
            <a:ext cx="22974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Halves the HP penalty on the next wrong answer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204204" y="4617720"/>
            <a:ext cx="2626614" cy="1508760"/>
          </a:xfrm>
          <a:prstGeom prst="roundRect">
            <a:avLst>
              <a:gd name="adj" fmla="val 7273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8796" y="4754880"/>
            <a:ext cx="22974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XP Potion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68796" y="5166360"/>
            <a:ext cx="2297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 coins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68796" y="5468112"/>
            <a:ext cx="22974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the XP reward of the next correct answer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9031986" y="4617720"/>
            <a:ext cx="2626614" cy="1508760"/>
          </a:xfrm>
          <a:prstGeom prst="roundRect">
            <a:avLst>
              <a:gd name="adj" fmla="val 7273"/>
            </a:avLst>
          </a:prstGeom>
          <a:solidFill>
            <a:srgbClr val="1F1B33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96578" y="4754880"/>
            <a:ext cx="22974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Drop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196578" y="5166360"/>
            <a:ext cx="22974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coins each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96578" y="5468112"/>
            <a:ext cx="229743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6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1 HP per drop, up to 25 at a time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94977F2-2600-8085-C905-08D97AC08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64" y="1700212"/>
            <a:ext cx="578813" cy="394182"/>
          </a:xfrm>
          <a:prstGeom prst="rect">
            <a:avLst/>
          </a:prstGeom>
        </p:spPr>
      </p:pic>
      <p:sp>
        <p:nvSpPr>
          <p:cNvPr id="45" name="Arrow: Up 44">
            <a:extLst>
              <a:ext uri="{FF2B5EF4-FFF2-40B4-BE49-F238E27FC236}">
                <a16:creationId xmlns:a16="http://schemas.microsoft.com/office/drawing/2014/main" id="{8C8A1CD3-9AF3-908A-EFC7-E09115402D14}"/>
              </a:ext>
            </a:extLst>
          </p:cNvPr>
          <p:cNvSpPr/>
          <p:nvPr/>
        </p:nvSpPr>
        <p:spPr>
          <a:xfrm>
            <a:off x="4609329" y="1806172"/>
            <a:ext cx="171908" cy="182876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3E07B94F-FE81-7B0B-7CE8-82B06EE4CE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8121" y="1747020"/>
            <a:ext cx="336550" cy="298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">
            <a:extLst>
              <a:ext uri="{FF2B5EF4-FFF2-40B4-BE49-F238E27FC236}">
                <a16:creationId xmlns:a16="http://schemas.microsoft.com/office/drawing/2014/main" id="{1C6B04E5-F850-4128-3C24-64EDAF06FCF5}"/>
              </a:ext>
            </a:extLst>
          </p:cNvPr>
          <p:cNvSpPr/>
          <p:nvPr/>
        </p:nvSpPr>
        <p:spPr>
          <a:xfrm>
            <a:off x="7077242" y="-4760495"/>
            <a:ext cx="10229515" cy="9520989"/>
          </a:xfrm>
          <a:prstGeom prst="ellipse">
            <a:avLst/>
          </a:prstGeom>
          <a:solidFill>
            <a:srgbClr val="3FE07F">
              <a:alpha val="8000"/>
            </a:srgbClr>
          </a:solidFill>
          <a:ln/>
        </p:spPr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F99AE90B-B4B6-A225-785B-6727E29A2BCE}"/>
              </a:ext>
            </a:extLst>
          </p:cNvPr>
          <p:cNvSpPr/>
          <p:nvPr/>
        </p:nvSpPr>
        <p:spPr>
          <a:xfrm>
            <a:off x="-4852737" y="2453105"/>
            <a:ext cx="8972884" cy="8819147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Function Patterns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small, validated-input utilities get reused everywhere instead of repeating logic per screen.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75688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Yes_No_loop()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386584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 the user enters y / Y or n / N — rejects everything else.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240780" y="1965960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3660" y="2075688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answer_input_loop()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23660" y="2386584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 a valid multiple-choice answer (1–4) is entered.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09544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menu_input(min, max)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integer selector reused by every menu and sub-menu.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240780" y="3099816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3660" y="3209544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flush_input()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23660" y="3520440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the input buffer after every scanf so leftover input can't break the next read.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548640" y="4233672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343400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correct_answer()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4654296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battle engine — ask, check, reward or penalize, then explain.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240780" y="4233672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3660" y="4343400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traning_answer()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23660" y="4654296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Training-mode twin of correct_answer() — same feedback, zero HP cost.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548640" y="5367528"/>
            <a:ext cx="5417820" cy="932688"/>
          </a:xfrm>
          <a:prstGeom prst="roundRect">
            <a:avLst>
              <a:gd name="adj" fmla="val 11765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477256"/>
            <a:ext cx="50520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</a:t>
            </a: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lesson_navigation()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5788152"/>
            <a:ext cx="50520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a multi-section lesson forward on Enter, back on 1.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">
            <a:extLst>
              <a:ext uri="{FF2B5EF4-FFF2-40B4-BE49-F238E27FC236}">
                <a16:creationId xmlns:a16="http://schemas.microsoft.com/office/drawing/2014/main" id="{E2A1B72F-BC55-8ABC-CB84-3A87A9A69F7A}"/>
              </a:ext>
            </a:extLst>
          </p:cNvPr>
          <p:cNvSpPr/>
          <p:nvPr/>
        </p:nvSpPr>
        <p:spPr>
          <a:xfrm>
            <a:off x="-5862052" y="-5267158"/>
            <a:ext cx="10229515" cy="9520989"/>
          </a:xfrm>
          <a:prstGeom prst="ellipse">
            <a:avLst/>
          </a:prstGeom>
          <a:solidFill>
            <a:srgbClr val="3FE07F">
              <a:alpha val="8000"/>
            </a:srgbClr>
          </a:solidFill>
          <a:ln/>
        </p:spPr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2596F6D9-E8F0-9C39-79F7-A68AE9ECBC78}"/>
              </a:ext>
            </a:extLst>
          </p:cNvPr>
          <p:cNvSpPr/>
          <p:nvPr/>
        </p:nvSpPr>
        <p:spPr>
          <a:xfrm>
            <a:off x="7085263" y="1590842"/>
            <a:ext cx="8972884" cy="8819147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>
                <a:solidFill>
                  <a:srgbClr val="F3F1F8"/>
                </a:solidFill>
                <a:latin typeface="Cambria"/>
                <a:ea typeface="Cambria"/>
                <a:cs typeface="Cambria" pitchFamily="34" charset="-120"/>
              </a:rPr>
              <a:t>        Save System — Three Files</a:t>
            </a:r>
            <a:endParaRPr lang="en-US" sz="3200">
              <a:latin typeface="Cambria"/>
              <a:ea typeface="Cambr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1F1B33"/>
          </a:solidFill>
          <a:ln w="15875">
            <a:solidFill>
              <a:srgbClr val="3FE0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3154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3FE07F"/>
                </a:solidFill>
                <a:latin typeface="Courier New"/>
                <a:ea typeface="Courier New" pitchFamily="34" charset="-122"/>
                <a:cs typeface="Courier New"/>
              </a:rPr>
              <a:t>save.txt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 · HP · Coin · XP · Iron_shield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checkpoint: which region you're on and your current stats.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61688" y="169164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1F1B33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1874520"/>
            <a:ext cx="3154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E8B84B"/>
                </a:solidFill>
                <a:latin typeface="Courier New"/>
                <a:ea typeface="Courier New" pitchFamily="34" charset="-122"/>
                <a:cs typeface="Courier New"/>
              </a:rPr>
              <a:t>profile.txt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90288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90288" y="28803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Apprentice's name, written once at the start of a run.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74736" y="169164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1F1B33"/>
          </a:solidFill>
          <a:ln w="15875">
            <a:solidFill>
              <a:srgbClr val="5FD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1874520"/>
            <a:ext cx="31546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500" b="1">
                <a:solidFill>
                  <a:srgbClr val="5FD9E8"/>
                </a:solidFill>
                <a:latin typeface="Courier New"/>
                <a:ea typeface="Courier New" pitchFamily="34" charset="-122"/>
                <a:cs typeface="Courier New"/>
              </a:rPr>
              <a:t>market.txt</a:t>
            </a:r>
            <a:endParaRPr lang="en-US" sz="1500">
              <a:latin typeface="Courier New"/>
              <a:cs typeface="Courier New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403336" y="228600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79F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Vibranium_shield · dubble_XP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03336" y="28803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whether the one-time shield / double-XP potion is active.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109960" cy="1874520"/>
          </a:xfrm>
          <a:prstGeom prst="roundRect">
            <a:avLst>
              <a:gd name="adj" fmla="val 5854"/>
            </a:avLst>
          </a:prstGeom>
          <a:solidFill>
            <a:srgbClr val="241F3D"/>
          </a:solidFill>
          <a:ln w="12700">
            <a:solidFill>
              <a:srgbClr val="383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34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FILE FOLLOWS THE SAME THREE-FUNCTION PATTERN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800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_reset()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51023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fresh default values (called on New Game / after finishing the story)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4800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_open()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80560" y="51023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file back into memory — returns 0 if no save exists yet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92440" y="4800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_save()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92440" y="510235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3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current in-memory values back to disk after every region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QUEST  •  ESCAPE FROM THE COMPILER KINGDOM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56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pic>
        <p:nvPicPr>
          <p:cNvPr id="33" name="Graphic 29">
            <a:extLst>
              <a:ext uri="{FF2B5EF4-FFF2-40B4-BE49-F238E27FC236}">
                <a16:creationId xmlns:a16="http://schemas.microsoft.com/office/drawing/2014/main" id="{FB04E82D-3C9F-0ADE-C7EF-55F5C31D8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1113" y="494632"/>
            <a:ext cx="781050" cy="895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7315200" cy="7315200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0"/>
            <a:ext cx="7315200" cy="7315200"/>
          </a:xfrm>
          <a:prstGeom prst="ellipse">
            <a:avLst/>
          </a:prstGeom>
          <a:solidFill>
            <a:srgbClr val="3FE07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53996" y="137160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241F3D"/>
          </a:solidFill>
          <a:ln w="12700">
            <a:solidFill>
              <a:srgbClr val="3FE0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53996" y="137160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kern="0" spc="50" dirty="0">
                <a:solidFill>
                  <a:srgbClr val="3FE0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500" kern="0" spc="50" dirty="0">
                <a:solidFill>
                  <a:srgbClr val="F3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succeeded. 0 errors, 0 warnings.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269748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200" dirty="0">
                <a:solidFill>
                  <a:srgbClr val="F3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35204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79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kingdom is whole again — the code is no longer broken.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02636" y="4206240"/>
            <a:ext cx="6583680" cy="1051560"/>
          </a:xfrm>
          <a:prstGeom prst="roundRect">
            <a:avLst>
              <a:gd name="adj" fmla="val 10435"/>
            </a:avLst>
          </a:prstGeom>
          <a:solidFill>
            <a:srgbClr val="1F1B33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1236" y="43434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5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REPOSITORY</a:t>
            </a:r>
            <a:endParaRPr lang="en-US" sz="10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3031236" y="46177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u="sng" dirty="0">
                <a:solidFill>
                  <a:srgbClr val="F3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github.com/MahiAlAraf/CODE-QUEST-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0" y="56235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5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Mahi Al Araf   ·   Masrafi Sakib   · 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1272</Words>
  <Application>Microsoft Office PowerPoint</Application>
  <PresentationFormat>Widescreen</PresentationFormat>
  <Paragraphs>216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Mahi  Al Araf</cp:lastModifiedBy>
  <cp:revision>391</cp:revision>
  <dcterms:created xsi:type="dcterms:W3CDTF">2026-08-12T06:10:17Z</dcterms:created>
  <dcterms:modified xsi:type="dcterms:W3CDTF">2026-08-13T07:02:02Z</dcterms:modified>
</cp:coreProperties>
</file>